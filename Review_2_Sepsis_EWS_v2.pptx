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Review 2 Presentation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F3C88"/>
                </a:solidFill>
                <a:latin typeface="Calibri"/>
              </a:rPr>
              <a:t>"AI-Based ICU Patient (Sepsis) Deterioration &amp;
Early Warning System with SHAP Explainability"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Submitted in partial fulfillment for the award of degree of
Bachelor of Technology in Department of Computer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By
Aagam Katariya (123B1E127)  |  Bhargavram Pedgaonkar (123B1E131)
Ayush Bankar (123B1E134)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7286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</a:rPr>
              <a:t>Under the supervision of
Mrs. Akanksha Magare, Assistant Professor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3C88"/>
                </a:solidFill>
                <a:latin typeface="Calibri"/>
              </a:rPr>
              <a:t>Pimpri Chinchwad College of Engineering, Pune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1.  Problem Statement &amp; Motivation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2.  Traditional vs. Modified Approach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3.  Objectives &amp; Scope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4.  Bibliography Analysis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5.  Literature Review Summary (10 Papers)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6.  Research Gaps / Limitations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7.  Dataset Description &amp; Sources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8.  EDA Analysis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9.  Proposed Approach &amp; Architecture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10. Mathematical Model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11. GroupKFold Cross-Validation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12. Baseline Model Results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13. Advanced XGBoost Results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14. Deep Learning Exploration (Future Work)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15. Threshold &amp; PR Curves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16. SHAP Explainability Results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17. SHAP Force Plots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18. Dashboard Screenshots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19. Research Ethics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20. Acknowledgement &amp; Conclusion</a:t>
            </a:r>
          </a:p>
          <a:p>
            <a:pPr>
              <a:lnSpc>
                <a:spcPct val="120000"/>
              </a:lnSpc>
              <a:spcAft>
                <a:spcPts val="6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21.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6928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6928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2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Real-World Problem &amp;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Sepsis causes ~11 million deaths globally per year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Every 1-hour delay raises mortality by 7–8%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ICU staff cannot monitor 50+ patients continuously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Traditional tools (SIRS, qSOFA) ~50% sensitive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Existing ML models predict CURRENT sepsis only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Low precision (7–15%)  →  alert fatigue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Black-box models lack clinical trust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Impact: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Late or missed detection  →  preventable deaths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6h &amp; 12h FUTURE sepsis prediction with XGBoost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84 engineered features: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  – 21 Lag features (1h, 3h, 6h)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  – 21 Change features (Δ1h, Δ3h, Δ6h)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    – 28 Rolling stats (mean/std/min/max)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scale_pos_weight for class imbalance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SHAP-based per-patient explanations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Interactive HTML / Streamlit dashboard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• GroupKFold — no patient-level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Traditional vs. Modified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4444"/>
                </a:solidFill>
                <a:latin typeface="Calibri"/>
              </a:rPr>
              <a:t>Traditional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0292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Raw ICU Data (14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0292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Single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50292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Calibri"/>
              </a:rPr>
              <a:t>Binary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033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50292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502920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434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Only CURRENT detection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No temporal context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Poor recall (2–50%)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No interpretability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Not deployable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Our Modified 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371600"/>
            <a:ext cx="50292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13716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Calibri"/>
              </a:rPr>
              <a:t>Raw ICU Data (546K × 44)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1874519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286000"/>
            <a:ext cx="50292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2860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Temporal Feature Engineering (84)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7889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200400"/>
            <a:ext cx="50292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320040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Dual XGBoost + SHAP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7033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0B981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886200"/>
            <a:ext cx="50292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83680" y="3886200"/>
            <a:ext cx="502920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20840" y="3913632"/>
            <a:ext cx="4754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Improvements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34340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FUTURE 6h / 12h prediction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84 engineered temporal features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AUROC improved to 0.80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SHAP per-patient explanations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Deployed HTML + Streamlit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1.  To develop a temporal feature engineering pipeline that captures physiological deterioration patterns from ICU time-series data (lags, changes, rolling statistics).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2.  To design a regularized XGBoost classifier for predicting sepsis onset 6 and 12 hours in advance, handling severe class imbalance (2.17% positive rate).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3.  To analyze feature contributions using SHAP explainability to identify whether the model relies on dynamic vitals or static context features.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4.  To implement a patient-level decision-support dashboard providing per-patient risk scores, top contributing factors, and rule-based clinical recommendations.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300">
                <a:solidFill>
                  <a:srgbClr val="1F2937"/>
                </a:solidFill>
                <a:latin typeface="Calibri"/>
              </a:defRPr>
            </a:pPr>
            <a:r>
              <a:t>5.  To evaluate model performance using imbalance-robust metrics (AUPRC, Recall, F1) against 3 classical baselines under 5-fold GroupKFold cross-validation.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Scope of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Sepsis prediction for ICU patients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PhysioNet 2019 dataset (546K × 44)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6-hour &amp; 12-hour prediction horizons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Temporal feature engineering (84 features)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Classical ML baselines (LR, RF, HGB)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Advanced XGBoost (6h + 12h)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SHAP-based interpretability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Patient-aware 5-fold GroupKFold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SMOTE on training folds only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HTML + Streamlit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005840"/>
            <a:ext cx="566928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005840"/>
            <a:ext cx="566928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033272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Out of Scope /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OUT OF SCOPE: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Real-time EHR integration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Multi-hospital prospective trial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Transformer architectures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Drug recommendation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Pediatric / neonatal ICU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DELIVERABLES: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6h + 12h XGBoost models (.pkl)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SHAP artifacts (.pkl)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Patient predictions CSV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HTML + Streamlit dashboards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LSTM/GRU exploration (future_work/)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Bibliography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51560"/>
            <a:ext cx="3017520" cy="54864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0" y="1051560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Bibliography Analysis (45)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2763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1F3C88"/>
                </a:solidFill>
                <a:latin typeface="Calibri"/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2004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International
Conference (18)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03120"/>
            <a:ext cx="301752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Books / Thesis (05)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03120"/>
            <a:ext cx="320040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200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International
Journal (22)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00400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3C88"/>
                </a:solidFill>
                <a:latin typeface="Calibri"/>
              </a:rPr>
              <a:t>IEEE
(12)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3200400"/>
            <a:ext cx="146304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3200400"/>
            <a:ext cx="1463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3C88"/>
                </a:solidFill>
                <a:latin typeface="Calibri"/>
              </a:rPr>
              <a:t>Springer
(04)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128016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3C88"/>
                </a:solidFill>
                <a:latin typeface="Calibri"/>
              </a:rPr>
              <a:t>Scopus
(08)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3200400"/>
            <a:ext cx="128016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3200400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3C88"/>
                </a:solidFill>
                <a:latin typeface="Calibri"/>
              </a:rPr>
              <a:t>SCI
(06)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3200400"/>
            <a:ext cx="128016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0" y="3200400"/>
            <a:ext cx="12801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F3C88"/>
                </a:solidFill>
                <a:latin typeface="Calibri"/>
              </a:rPr>
              <a:t>Others
(08)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10972800" cy="228600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160520"/>
            <a:ext cx="1097280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187952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Observation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1772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60%+ of literature is from 2019 onwards (post-PhysioNet Challenge era)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Strong recent growth in explainable AI for clinical decision support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PhysioNet 2019 dataset dominates the benchmark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SHAP-based interpretability remains underexplored in sepsis ML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Few papers compare engineered features vs. deep learning under identical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Year-wise Publication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Publication Year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IEEE Conf.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Springer/IEEE Jrnl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Other Journals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2025–2026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2023–2024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2021–2022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2000–2014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Literature Review Summary (Part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Improvement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Oxford PhysioNet Winners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Rough path signatures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Complex, not interpretable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 + SHAP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Automated Prediction (2nd)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 + missingness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Utility-focused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 SHAP + dashboard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PhysioNet Challenge Report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104 teams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Failed on hidden hospital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Diagnoses static reliance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Informative Missingness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 + masking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Non-generalizable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Median imputation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Novel Classical ML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Stacking + COPULA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Synthetic artifacts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Cost-sensitive learning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5349240"/>
            <a:ext cx="1161288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349240"/>
            <a:ext cx="1161288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5376672"/>
            <a:ext cx="11338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PhysioNet 2019 challenge winners and follow-ups lack per-patient explainability.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Literature Review Summary (Part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Improvement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Decision-aware Two-stage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XGBoost + refinement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interpretability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SHAP + dashboard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Clinically Optimized ML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Calibrated XGBoost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explainability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SHAP + recommendations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Hybrid LSTM-GAT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2026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Deep learning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High compute cost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Sepsis-3 Consensus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SOFA criteria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Definition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ML implementation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Global Burden of Sepsis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2020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GBD Study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Epidemiology only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Actionable prediction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5349240"/>
            <a:ext cx="1161288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5349240"/>
            <a:ext cx="1161288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5376672"/>
            <a:ext cx="11338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Key 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Recent 2024–2026 papers focus on deep learning / calibration, but NONE combine explainability +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Research Gaps /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1.  Future Prediction vs. Detection — Most models detect current sepsis. Our work: 6h &amp; 12h future prediction.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2.  Interpretability Gap — Only 1–2 papers use SHAP/LIME. Our work: per-patient SHAP + dashboard.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3.  Static Feature Dominance — ICULOS, HospAdmTime dominate many models. Our work: quantify static vs. dynamic SHAP.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4.  Class Imbalance Handling — Synthetic oversampling introduces artifacts. Our work: cost-sensitive learning.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5.  Deployment Gap — Most models remain in research papers. Our work: deployable HTML + Streamlit dashboards.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6.  Patient-Level Evaluation Missing — Most papers report row-level metrics. Our work: 5-fold GroupKFold, patient-level split.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7.  Threshold Optimization Ignored — Most papers use default 0.5. Our work: threshold locked from validation set.</a:t>
            </a:r>
          </a:p>
          <a:p>
            <a:pPr>
              <a:lnSpc>
                <a:spcPct val="135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8.  DL vs. Classical Comparison — Rarely done under identical CV. Our work: 5 model families compared fairly.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Dataset Description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51560"/>
          <a:ext cx="5943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Dataset Name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PhysioNet 2019 Sepsis Challenge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Records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546,122 hourly ICU records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Columns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44 (original) → 39 used for modeling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 Patients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14,057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Sepsis Rate (row)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~2.17%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Sepsis Rate (patient)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8.81%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Class Imbalance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~45 : 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Target Variables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Target_6h, Target_12h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Evaluation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5-fold GroupKFold (by Patient_ID)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1051560"/>
          <a:ext cx="49377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Vitals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HR, O2Sat, Temp, SBP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Static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Age, Gender, Units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Hour, ICULOS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Engineered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Lags, changes, rolling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0" y="5120640"/>
            <a:ext cx="4937760" cy="12344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5120640"/>
            <a:ext cx="4937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95160" y="5148072"/>
            <a:ext cx="4663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5778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All preprocessing (winsorization, imputation, scaling, SMOTE)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  is applied inside CV folds — no test-set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Primary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1. PhysioNet 2019 Challenge — https://physionet.org/content/challenge-2019/1.0.0/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2. MIMIC-III Clinical Database — https://physionet.org/content/mimiciii/1.4/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3. eICU Collaborative Research DB — https://physionet.org/content/eicu-crd/2.0/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40480"/>
            <a:ext cx="11430000" cy="2560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867912"/>
            <a:ext cx="11155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Secondary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1. Sepsis-3 Consensus Definition — Singer et al., JAMA 2016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2. Global Burden of Disease Study — Rudd et al., Lancet 2020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3. Surviving Sepsis Campaign Guidelines — Evans et al., 2021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200">
                <a:solidFill>
                  <a:srgbClr val="1F2937"/>
                </a:solidFill>
                <a:latin typeface="Calibri"/>
              </a:defRPr>
            </a:pPr>
            <a:r>
              <a:t>4. Fleischmann et al., Am. J. Respir. Crit. Care Med.,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Exploratory Data Analysis —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5778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Class Distribution</a:t>
            </a:r>
          </a:p>
        </p:txBody>
      </p:sp>
      <p:pic>
        <p:nvPicPr>
          <p:cNvPr id="7" name="Picture 6" descr="figure_3_1_patient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9032"/>
            <a:ext cx="5394960" cy="40240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051560"/>
            <a:ext cx="55778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5156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Missing Value Heatmap</a:t>
            </a:r>
          </a:p>
        </p:txBody>
      </p:sp>
      <p:pic>
        <p:nvPicPr>
          <p:cNvPr id="11" name="Picture 10" descr="figure_3_2_missing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99032"/>
            <a:ext cx="5394960" cy="21533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3703320"/>
            <a:ext cx="55778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ICU Length of Stay</a:t>
            </a:r>
          </a:p>
        </p:txBody>
      </p:sp>
      <p:pic>
        <p:nvPicPr>
          <p:cNvPr id="15" name="Picture 14" descr="figure_3_3_icu_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50792"/>
            <a:ext cx="5394960" cy="19999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3703320"/>
            <a:ext cx="557784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0332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370332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Correlation Matrix</a:t>
            </a:r>
          </a:p>
        </p:txBody>
      </p:sp>
      <p:pic>
        <p:nvPicPr>
          <p:cNvPr id="19" name="Picture 18" descr="figure_3_4_correlat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050792"/>
            <a:ext cx="5394960" cy="48000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Proposed Approach — Block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743200" cy="5943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1: Data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05840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PhysioNet 2019 Dataset (546K × 44)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73352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673352"/>
            <a:ext cx="274320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2: 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73352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Drop unnamed, drop &gt;80% missing (43→16), sort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40864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40864"/>
            <a:ext cx="274320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340864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3: Target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340864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Target_6h &amp; Target_12h; filter SepsisLabel==0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008376"/>
            <a:ext cx="27432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008376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4: Feature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21 Lag + 21 Change + 28 Rolling → 84 features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75888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675888"/>
            <a:ext cx="27432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675888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5: Cross-Validation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75888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5-fold GroupKFold grouped by Patient_ID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43400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343400"/>
            <a:ext cx="2743200" cy="5943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343400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6: Model Training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343400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3 baselines + XGBoost 6h/12h; SMOTE on train folds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10912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010912"/>
            <a:ext cx="274320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5010912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7: Threshold Locking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010912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Best F1 from validation; applied to test 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678424"/>
            <a:ext cx="11247120" cy="59436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5678424"/>
            <a:ext cx="27432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5678424"/>
            <a:ext cx="26517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Step 8: SHAP +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678424"/>
            <a:ext cx="8321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TreeExplainer; per-patient factors; HTML + Streamlit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5943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Raw ICU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0759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546,122 × 44, 14,057 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5544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12471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80136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Preprocessing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Column dropping | Median imputation |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33172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1124712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57860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Feature Store (84)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6207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14 base + 70 engineered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089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124712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Model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XGBoost 6h | XGBoost 12h (scale_pos_weight≈85)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1124712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Explainability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TreeExplainer | Per-patient SHAP factors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6634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1124712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91032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Prediction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9379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Patient predictions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440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687568"/>
            <a:ext cx="11064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71032"/>
            <a:ext cx="11064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HTML + Streamlit | Search | Filter | SHAP cards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Mathematical Model —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6928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6928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2"/>
            <a:ext cx="5394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Feature Engineering Equations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Lag:  X_lag_k(t) = X(t − k),  k ∈ {1,3,6}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Change:  ΔX_k(t) = X(t) − X(t − k)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Rolling Mean (3h):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X̄_3h(t) = (1/3) Σ X(t−i)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Rolling Std: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σ_3h(t) = sqrt( (1/3) Σ (X − X̄)² 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Class Weight: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scale_pos_weight = N₋ / N₊ ≈ 85.66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548640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XGBoost Objective &amp; 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Objective: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Obj = Σ L(y, ŷ) + Σ Ω(f_k)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L = binary cross-entropy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Ω(f) = γT + ½λ‖w‖²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Prediction: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P(sepsis|X) = σ( Σ f_k(X) 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Threshold: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t* = argmax_t F1(y_val, 𝟙[P ≥ t])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SHAP: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φ_i = Σ_S [ |S|!(|F|−|S|−1)!/|F|! ]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         × [ f(S ∪ {i}) − f(S)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Patient-Aware Cross-Validation — GroupKFold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260604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The Leakage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ICU data has multiple hourly rows per patient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Random k-fold: same patient in train AND test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Model 'remembers' patient baseline → inflated scores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Result: unrealistically high AUROC that fails in 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26060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GroupKFold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All rows for one patient go to EITHER train OR test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Guarantees evaluation on unseen patients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5-fold CV grouped by Patient_ID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Mirrors real clinical deployment exactly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49039"/>
            <a:ext cx="11430000" cy="141732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749039"/>
            <a:ext cx="114300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776471"/>
            <a:ext cx="11155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Preprocessing Discipline (No Leakage)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39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Winsorization bounds fit on TRAIN fold only → applied to VAL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Median imputation values computed on TRAIN fold only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StandardScaler fit on TRAIN fold only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SMOTE applied ONLY to training fold — validation stays untouched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49240"/>
            <a:ext cx="11430000" cy="118872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5349240"/>
            <a:ext cx="1143000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5376672"/>
            <a:ext cx="11155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Published AUROC values are often inflated by row-level splits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Our GroupKFold results represent realistic generalization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Results — Baseline Models (5-Fold GroupKFold + SMOTE)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30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AUROC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AUPRC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Logistic Regression + SMOTE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0.703 ± 0.013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0.079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0.601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~0.08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Random Forest + SMOTE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0.739 ± 0.010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0.416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~0.09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HistGradientBoosting + SMOTE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0.733 ± 0.012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0.088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0.367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~0.09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2377440"/>
            <a:ext cx="557784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557784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Confusion Matrices — Baselines</a:t>
            </a:r>
          </a:p>
        </p:txBody>
      </p:sp>
      <p:pic>
        <p:nvPicPr>
          <p:cNvPr id="8" name="Picture 7" descr="baseline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4912"/>
            <a:ext cx="5394960" cy="14758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2377440"/>
            <a:ext cx="557784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37744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ROC &amp; PR Curves — Baselines</a:t>
            </a:r>
          </a:p>
        </p:txBody>
      </p:sp>
      <p:pic>
        <p:nvPicPr>
          <p:cNvPr id="12" name="Picture 11" descr="baseline_roc_pr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24912"/>
            <a:ext cx="5394960" cy="22881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Results — Advanced Temporal XGBoost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3749039" cy="2057400"/>
          </a:xfrm>
          <a:prstGeom prst="rect">
            <a:avLst/>
          </a:prstGeom>
          <a:solidFill>
            <a:srgbClr val="F3F4F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74903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34747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6h Model (Threshold = 0.80)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3832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AUROC = 0.800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AUPRC = 0.112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Recall = 0.312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Precision = 0.104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F1 = 0.156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0120"/>
            <a:ext cx="3749039" cy="205740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06240" y="960120"/>
            <a:ext cx="374903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43400" y="987552"/>
            <a:ext cx="34747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12h Model (Threshold = 0.65)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17320"/>
            <a:ext cx="33832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AUROC = 0.804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AUPRC = 0.115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Recall = 0.409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Precision = 0.181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F1 = 0.251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3749039" cy="205740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960120"/>
            <a:ext cx="3749039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987552"/>
            <a:ext cx="347471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383279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+0.06 AUROC over best baseline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12h catches 41% of sepsis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Precision improved 2.5×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AUPRC 5× better than random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Threshold locked from validation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557784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3154680"/>
            <a:ext cx="557784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15468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Final Confusion Matrices</a:t>
            </a:r>
          </a:p>
        </p:txBody>
      </p:sp>
      <p:pic>
        <p:nvPicPr>
          <p:cNvPr id="19" name="Picture 18" descr="figure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2152"/>
            <a:ext cx="5394960" cy="221905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217920" y="3154680"/>
            <a:ext cx="557784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15468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15468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ROC Curves — 6h vs 12h</a:t>
            </a:r>
          </a:p>
        </p:txBody>
      </p:sp>
      <p:pic>
        <p:nvPicPr>
          <p:cNvPr id="23" name="Picture 22" descr="figures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502152"/>
            <a:ext cx="5394960" cy="470750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Deep Learning Exploration (Future Work)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237744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LSTM / GRU — Detection (Naive Labeling)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Input window INCLUDES septic period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LSTM: AUROC 0.934 ± 0.004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GRU:  AUROC 0.934 ± 0.009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Warning: inflated by TARGET LEAKAGE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Model reads the answer from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237744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03327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LSTM / GRU — Prediction (Proper Framing)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Input strictly precedes prediction time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LSTM: AUROC 0.571 ± 0.014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GRU:  AUROC 0.563 ± 0.013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Underperforms even Logistic Regression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XGBoost wins at AUROC 0.80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11430000" cy="141732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143000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11155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Key Finding — Methodological 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0.37 AUROC gap between detection and prediction quantifies target leakage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Aligns with Grinsztajn et al. (2022): tree models beat DL on tabular data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Result: XGBoost remains the deployed production model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• Full DL experiments preserved in future_work/ for reproducibility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120640"/>
            <a:ext cx="11430000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5120640"/>
            <a:ext cx="1143000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1247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LSTM/GRU — Detection vs Prediction ROC &amp; PR Curves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63540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Calibri"/>
              </a:rPr>
              <a:t>[INSERT IMAGE]
dl_lstm_gru_curves.png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Threshold Sensitivity &amp; PR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Threshold Analysis — 6h Model</a:t>
            </a:r>
          </a:p>
        </p:txBody>
      </p:sp>
      <p:pic>
        <p:nvPicPr>
          <p:cNvPr id="7" name="Picture 6" descr="figures_threshold_XGBoost_6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5394960" cy="26657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Precision-Recall Curves (6h vs 12h)</a:t>
            </a:r>
          </a:p>
        </p:txBody>
      </p:sp>
      <p:pic>
        <p:nvPicPr>
          <p:cNvPr id="11" name="Picture 10" descr="figures_pr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53312"/>
            <a:ext cx="5394960" cy="47075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SHAP Explainability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SHAP Summary — 6h Model</a:t>
            </a:r>
          </a:p>
        </p:txBody>
      </p:sp>
      <p:pic>
        <p:nvPicPr>
          <p:cNvPr id="7" name="Picture 6" descr="01_summary_6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5394960" cy="52116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005840"/>
            <a:ext cx="55778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2926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SHAP Summary — 12h Model</a:t>
            </a:r>
          </a:p>
        </p:txBody>
      </p:sp>
      <p:pic>
        <p:nvPicPr>
          <p:cNvPr id="11" name="Picture 10" descr="02_summary_12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53312"/>
            <a:ext cx="5394960" cy="519801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65760" y="4800600"/>
            <a:ext cx="557784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SHAP Bar Comparison</a:t>
            </a:r>
          </a:p>
        </p:txBody>
      </p:sp>
      <p:pic>
        <p:nvPicPr>
          <p:cNvPr id="15" name="Picture 14" descr="03_bar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148072"/>
            <a:ext cx="5394960" cy="329928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17920" y="4800600"/>
            <a:ext cx="5577840" cy="1691640"/>
          </a:xfrm>
          <a:prstGeom prst="rect">
            <a:avLst/>
          </a:prstGeom>
          <a:solidFill>
            <a:srgbClr val="F3F4F6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800600"/>
            <a:ext cx="557784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82803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Key SHAP Finding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Top 5: ICULOS, HospAdmTime, Unit1, Hour, Age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Static/time features → 42% of attention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Dynamic vitals (lags, rolling) → 57.5% aggregate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Action item: ablation removing static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SHAP Force Plots — Patient-Level Explanations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High-Risk Patient (p ≈ 0.978)</a:t>
            </a:r>
          </a:p>
        </p:txBody>
      </p:sp>
      <p:pic>
        <p:nvPicPr>
          <p:cNvPr id="7" name="Picture 6" descr="04_force_hi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3312"/>
            <a:ext cx="5394960" cy="71145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0" y="1005840"/>
            <a:ext cx="5577840" cy="5394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Low-Risk Patient (p ≈ 0.004)</a:t>
            </a:r>
          </a:p>
        </p:txBody>
      </p:sp>
      <p:pic>
        <p:nvPicPr>
          <p:cNvPr id="11" name="Picture 10" descr="05_force_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53312"/>
            <a:ext cx="5394960" cy="7021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Dashboard Deployment —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Main Dashboard — Patient Search &amp;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Calibri"/>
              </a:rPr>
              <a:t>[INSERT IMAGE]
dashboard_main_view.png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57784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577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Patient Detail — Vitals, Risk &amp; SHAP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468880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Calibri"/>
              </a:rPr>
              <a:t>[INSERT IMAGE]
dashboard_patient_detail.png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00600"/>
            <a:ext cx="557784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4800600"/>
            <a:ext cx="5577840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394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High-Risk Cohort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280660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EF4444"/>
                </a:solidFill>
                <a:latin typeface="Calibri"/>
              </a:rPr>
              <a:t>[INSERT IMAGE]
dashboard_high_risk_filter.png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800600"/>
            <a:ext cx="5577840" cy="1691640"/>
          </a:xfrm>
          <a:prstGeom prst="rect">
            <a:avLst/>
          </a:prstGeom>
          <a:solidFill>
            <a:srgbClr val="F3F4F6"/>
          </a:solidFill>
          <a:ln w="25400">
            <a:solidFill>
              <a:srgbClr val="1F3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800600"/>
            <a:ext cx="5577840" cy="3657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82803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5780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Searchable patient dropdown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Risk filters with live counts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SHAP top-3 factors per patient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Rule-based clinical recommendations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14,057 patients loaded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Research Ethics Principles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51560"/>
          <a:ext cx="1143000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4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Ethical Principle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Applies to Our Project</a:t>
                      </a:r>
                    </a:p>
                  </a:txBody>
                  <a:tcPr marL="45720" marR="45720" marT="18288" marB="18288">
                    <a:solidFill>
                      <a:srgbClr val="1F3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Honesty &amp; Integrity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Report actual experimental results from PhysioNet dataset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Fabrication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synthetic sepsis labels; real ICU data only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Falsification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Test metrics at thresholds locked from validation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 Plagiarism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All PhysioNet papers cited; XGBoost/SHAP attributed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Data Privacy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Public de-identified dataset; no patient identifiers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Informed Consent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Not applicable — public research dataset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Fairness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Patient-level GroupKFold split prevents leakage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Intellectual Property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Open-source libraries used per license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4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Transparency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Full pipeline shared; SHAP reveals model reasoning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904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Responsible AI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Dashboard states 'not a clinical diagnosis'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Acknowledgement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5577840" cy="5394960"/>
          </a:xfrm>
          <a:prstGeom prst="rect">
            <a:avLst/>
          </a:prstGeom>
          <a:solidFill>
            <a:srgbClr val="F3F4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57784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Acknowledgement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We sincerely thank: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Mrs. Akanksha Magare, for continuous guidance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PCCOE Dept. of Computer Engineering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PhysioNet 2019 organizers for public dataset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Open-source: scikit-learn, XGBoost, SHAP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AI Tools Used: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GitHub Copilot — code completion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ChatGPT / Claude — documentation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draw.io — architecture diagrams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matplotlib + seaborn — figures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51560"/>
            <a:ext cx="5577840" cy="5394960"/>
          </a:xfrm>
          <a:prstGeom prst="rect">
            <a:avLst/>
          </a:prstGeom>
          <a:solidFill>
            <a:srgbClr val="F3F4F6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5778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078992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Achievements: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Built 84-feature temporal pipeline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Trained 6h &amp; 12h XGBoost (AUROC 0.80)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+0.06 AUROC over best baseline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5× AUPRC improvement over random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SHAP per-patient explanations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HTML + Streamlit dashboards deployed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✓ Quantified target-leakage in DL framing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endParaRPr/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Future Work: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Ablation removing ICULOS/HospAdmTime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Transformer architectures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Multi-hospital generalization</a:t>
            </a:r>
          </a:p>
          <a:p>
            <a:pPr>
              <a:lnSpc>
                <a:spcPct val="115000"/>
              </a:lnSpc>
              <a:spcAft>
                <a:spcPts val="300"/>
              </a:spcAft>
              <a:defRPr sz="1000">
                <a:solidFill>
                  <a:srgbClr val="1F2937"/>
                </a:solidFill>
                <a:latin typeface="Calibri"/>
              </a:defRPr>
            </a:pPr>
            <a:r>
              <a:t>• EHR integration (HL7 FHIR)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6017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References (Selected)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[1] M. Singer et al., "Sepsis-3 Consensus Definitions," JAMA, 315(8), 2016.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[2] K. E. Rudd et al., "Global sepsis incidence and mortality 1990–2017," Lancet, 395, 2020.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[3] C. Fleischmann et al., "Global Incidence and Mortality of Hospital-treated Sepsis," AJRCCM, 2016.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[4] M. A. Reyna et al., "Early Prediction of Sepsis: PhysioNet Challenge 2019," CCM, 48(2), 2020.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[5] T. Chen and C. Guestrin, "XGBoost: A Scalable Tree Boosting System," KDD, 2016.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[6] S. M. Lundberg and S.-I. Lee, "A Unified Approach to Interpreting Model Predictions," NeurIPS, 2017.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[7] A. E. Johnson et al., "MIMIC-III: a freely accessible critical care database," Sci Data, 2016.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[8] E. P. Raith et al., "Prognostic Accuracy of SOFA, SIRS, qSOFA," JAMA, 317(3), 2017.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[9] L. Grinsztajn et al., "Why tree-based models still outperform deep learning on tabular data," NeurIPS, 2022.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1100">
                <a:solidFill>
                  <a:srgbClr val="1F2937"/>
                </a:solidFill>
                <a:latin typeface="Calibri"/>
              </a:defRPr>
            </a:pPr>
            <a:r>
              <a:t>[10] N. V. Chawla et al., "SMOTE: Synthetic Minority Over-sampling Technique," JAIR, 16, 2002.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Sepsis Early Warning System —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3340</Words>
  <Application>Microsoft Office PowerPoint</Application>
  <PresentationFormat>Widescreen</PresentationFormat>
  <Paragraphs>613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Aagam Katariya</cp:lastModifiedBy>
  <cp:revision>1</cp:revision>
  <dcterms:created xsi:type="dcterms:W3CDTF">2013-01-27T09:14:16Z</dcterms:created>
  <dcterms:modified xsi:type="dcterms:W3CDTF">2026-09-22T17:09:44Z</dcterms:modified>
  <cp:category/>
</cp:coreProperties>
</file>